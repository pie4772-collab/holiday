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오프닝: 이 교육은 이론이 아니라, 실제로 만든 사내 연차 앱 Holiday를 사례로 Cursor 활용법을 익힙니다.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Holiday 교육에서는 Agent를 중심으로 시연하고, 규칙 설명이 필요할 때만 Ask로 전환하라고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194560" cy="329184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1945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실전 교육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8686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Cursor AI로
사내 웹앱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8412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Malgun Gothic"/>
                <a:ea typeface="Malgun Gothic"/>
              </a:rPr>
              <a:t>Holiday 연차 관리 시스템  ·  기획부터 배포까지 한 프로젝트로 배우기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Malgun Gothic"/>
                <a:ea typeface="Malgun Gothic"/>
              </a:rPr>
              <a:t>2026  ·  Cursor + React + Express +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743200"/>
            <a:ext cx="1920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74명
실데이터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4297680"/>
            <a:ext cx="1920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사내 연차
풀스택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오늘 배울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약 50분  ·  개념 → 사례 → 프롬프트 → 배포 → 실습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6D28D9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3560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Cursor가 바꾸는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013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채팅만 하는 AI가 아니라, 코드를 읽고 고치고 실행하는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6D28D9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2432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Holiday로 보는 실전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9008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엑셀 연차 대장 → 웹앱 → 모바일 → 호스팅까지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6D28D9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1304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잘 시키는 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7880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프롬프트, 컨텍스트, Rules, MCP — 결과가 갈리는 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56632"/>
            <a:ext cx="914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6D28D9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017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따라하기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6752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이 프로젝트에서 바로 써볼 수 있는 요청 문장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왜 Cursor인가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코드를 ‘설명’하는 도구가 아니라, 프로젝트 안에서 ‘작업’하는 도구입니다.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읽는다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063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폴더·파일·에러 로그·브라우저까지
현재 프로젝트 맥락을 보고 답합니다.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459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고친다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3063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여러 파일을 한꺼번에 수정하고
린트·테스트까지 이어서 돌립니다.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실행한다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3063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터미널 명령, 배포 MCP, 브라우저 확인까지
한 대화에서 끝까지 갑니다.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비슷한 도구, 다른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011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15568"/>
            <a:ext cx="2926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ChatGPT 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115568"/>
            <a:ext cx="2926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115568"/>
            <a:ext cx="3383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Cursor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874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작업 장소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2880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브라우저 채팅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에디터 자동완성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6D28D9"/>
                </a:solidFill>
                <a:latin typeface="Malgun Gothic"/>
                <a:ea typeface="Malgun Gothic"/>
              </a:rPr>
              <a:t>프로젝트 전체 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11247120" cy="777240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874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코드 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0604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복사해서 붙임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60604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커서 근처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6D28D9"/>
                </a:solidFill>
                <a:latin typeface="Malgun Gothic"/>
                <a:ea typeface="Malgun Gothic"/>
              </a:rPr>
              <a:t>여러 파일 직접 편집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2112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1874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8328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8328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제한적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6D28D9"/>
                </a:solidFill>
                <a:latin typeface="Malgun Gothic"/>
                <a:ea typeface="Malgun Gothic"/>
              </a:rPr>
              <a:t>터미널·브라우저·배포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59352"/>
            <a:ext cx="11247120" cy="777240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1874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맥락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6052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붙여넣은 만큼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16052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열린 파일 위주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6D28D9"/>
                </a:solidFill>
                <a:latin typeface="Malgun Gothic"/>
                <a:ea typeface="Malgun Gothic"/>
              </a:rPr>
              <a:t>저장소 + Rules + MCP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36592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1874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이 프로젝트에선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93776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아이디어 상의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937760"/>
            <a:ext cx="2788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한 줄 보강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3776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6D28D9"/>
                </a:solidFill>
                <a:latin typeface="Malgun Gothic"/>
                <a:ea typeface="Malgun Gothic"/>
              </a:rPr>
              <a:t>앱을 처음부터 만듦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Malgun Gothic"/>
                <a:ea typeface="Malgun Gothic"/>
              </a:rPr>
              <a:t>PART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사례: Holiday 연차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BD5E1"/>
                </a:solidFill>
                <a:latin typeface="Malgun Gothic"/>
                <a:ea typeface="Malgun Gothic"/>
              </a:rPr>
              <a:t>엑셀로 관리하던 사내 연차를, Cursor로 웹 서비스로 만든 실제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해결한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연차 대장을 엑셀로 관리하면 생기는 일을, 앱 한 개로 바꿨습니다.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DC2626"/>
                </a:solidFill>
                <a:latin typeface="Malgun Gothic"/>
                <a:ea typeface="Malgun Gothic"/>
              </a:rPr>
              <a:t>Before  ·  엑셀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74명 연차를 엑셀 파일 하나로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발생·사용·잔여 계산이 사람 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입사일·근속에 따른 규칙이 복잡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모바일에서 보기 어렵고 공유가 불편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퇴사·재직 처리가 파일 수정에 의존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3949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59669"/>
                </a:solidFill>
                <a:latin typeface="Malgun Gothic"/>
                <a:ea typeface="Malgun Gothic"/>
              </a:rPr>
              <a:t>After  ·  Holiday 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직원/관리자 화면이 나뉜 웹앱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규칙이 코드로 고정 (1/1 회계기준)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신청·캘린더·명부·수정이 한곳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PC·휴대폰 같은 Wi-Fi에서 접속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·  카페24 AI Space로 배포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한 앱에 들어간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직원용 4화면 + 관리자 5화면. 포트 3001 하나로 PC·모바일 모두 접속합니다.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D28D9"/>
                </a:solidFill>
                <a:latin typeface="Malgun Gothic"/>
                <a:ea typeface="Malgun Gothic"/>
              </a:rPr>
              <a:t>직원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563EB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대시보드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/employee   ·   잔여 연차 · 규칙 안내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발생 내역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/employee/history   ·   월차 · 비례 · 정규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캘린더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/employee/calendar   ·   사용한 날 한눈에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5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18887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연차 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6635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/employee/request   ·   모달로 바로 신청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5448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/admin   ·   전사 현황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0604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71576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사원 명부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63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/admin/roster   ·   입사 · 퇴사 · 재직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57600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67328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연차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/admin/employees   ·   사번 포함 목록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09159"/>
            <a:ext cx="54406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818887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발생·사용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66359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/admin/leave-manage   ·   직원별 정정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기술 스택 — Cursor가 다루기 좋은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최신 메이저 버전이지만, 역할이 분명해서 AI가 파일을 찾기 쉽습니다.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78892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프론트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4231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React 19  ·  Vite  ·  Tailwind v4
React Query  ·  Zustand  · 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788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563EB"/>
                </a:solidFill>
                <a:latin typeface="Malgun Gothic"/>
                <a:ea typeface="Malgun Gothic"/>
              </a:rPr>
              <a:t>백엔드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4231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Express 5
API + 정적 파일 동시 서빙
포트 3001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27889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9669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24231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SQLite (better-sqlite3)
Excel → DB 임포트
74명 실데이터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25880"/>
            <a:ext cx="27889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97706"/>
                </a:solidFill>
                <a:latin typeface="Malgun Gothic"/>
                <a:ea typeface="Malgun Gothic"/>
              </a:rPr>
              <a:t>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48840"/>
            <a:ext cx="24231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npm run restart
LAN IP 자동 감지
카페24 AI Space 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1772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D28D9"/>
                </a:solidFill>
                <a:latin typeface="Malgun Gothic"/>
                <a:ea typeface="Malgun Gothic"/>
              </a:rPr>
              <a:t>교육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AI에게 “프론트는 src/, API는 server/, 계산 로직은 src/utils/leaveCalculations.js”처럼 위치가 정해져 있으면 실수가 줄어듭니다. Cursor Rules로 이 구조를 고정할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아키텍처를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브라우저 → Express(3001) → SQLite. 개발 모드만 Vite 5173이 따로 뜹니다.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6D28D9"/>
                </a:solidFill>
                <a:latin typeface="Malgun Gothic"/>
                <a:ea typeface="Malgun Gothic"/>
              </a:rPr>
              <a:t>브라우저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926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직원 UI  /  관리자 UI
모바일 하단 탭 · PC 사이드바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6D28D9"/>
                </a:solidFill>
                <a:latin typeface="Malgun Gothic"/>
                <a:ea typeface="Malgun Gothic"/>
              </a:rPr>
              <a:t>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2926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GET /health  ·  /api/*
dist/ 정적 파일 서빙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371600"/>
            <a:ext cx="3154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1600200"/>
            <a:ext cx="2788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6D28D9"/>
                </a:solidFill>
                <a:latin typeface="Malgun Gothic"/>
                <a:ea typeface="Malgun Gothic"/>
              </a:rP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2103120"/>
            <a:ext cx="2788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employees · leave
Excel 임포트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965960"/>
            <a:ext cx="822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6D28D9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65960"/>
            <a:ext cx="822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6D28D9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연차 규칙 (코드)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37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회계 기준일 매년 1/1
첫해: 입사 후 월 1개 (최대 11)
1년 도달 ~ 다음 1/1 전: 비례 연차
이후: 정규 15일 + 근속 가산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핵심 파일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80"/>
            <a:ext cx="5029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src/utils/leaveCalculations.js  계산
server/routes/api.js  API
database/schema.sql  스키마
.cursor/mcp.json  카페24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Cursor로 만든 순서 (실제 흐름)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한 번에 완성되지 않았습니다. 대화로 기능을 쌓아 올린 기록입니다.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1945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6002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423160"/>
            <a:ext cx="1975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926080"/>
            <a:ext cx="1975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엑셀 연차 대장을
SQLite로 임포트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517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8B5CF6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945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6002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23160"/>
            <a:ext cx="1975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926080"/>
            <a:ext cx="1975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첫해·비례·정규·가산
계산 로직을 코드화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8B5CF6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371600"/>
            <a:ext cx="21945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0" y="16002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6916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423160"/>
            <a:ext cx="1975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926080"/>
            <a:ext cx="1975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직원/관리자 UI
Stripe 스타일로 정리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517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8B5CF6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39" y="1371600"/>
            <a:ext cx="21945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16002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6916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2423160"/>
            <a:ext cx="1975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2926080"/>
            <a:ext cx="1975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한 포트 실행,
모바일·LAN 접속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26517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8B5CF6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1371600"/>
            <a:ext cx="21945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0" y="16002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16916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423160"/>
            <a:ext cx="1975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926080"/>
            <a:ext cx="1975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MCP로 카페24
AI Space 연결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463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97706"/>
                </a:solidFill>
                <a:latin typeface="Malgun Gothic"/>
                <a:ea typeface="Malgun Gothic"/>
              </a:rPr>
              <a:t>강의에서 강조할 한 문장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9496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“처음부터 완벽한 스펙을 주지 않아도 됩니다. 목표 → 한 화면 → 규칙 → 배포처럼 단계를 나눠 시키면 Cursor가 훨씬 잘합니다.”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Malgun Gothic"/>
                <a:ea typeface="Malgun Gothic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잘 시키는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BD5E1"/>
                </a:solidFill>
                <a:latin typeface="Malgun Gothic"/>
                <a:ea typeface="Malgun Gothic"/>
              </a:rPr>
              <a:t>같은 AI라도, 요청 문장과 컨텍스트에 따라 Holiday 결과가 완전히 달라집니다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Cursor에서 자주 쓰는 모드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3716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질문·탐색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코드를 바꾸지 않고 설명만.
“연차 가산은 어디서 계산해?”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353312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53312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작업 수행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파일 수정·명령 실행·검증까지.
“사원 명부에 사번 칼럼 추가해줘”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22192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22192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84048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설계 먼저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여러 안이 있을 때 설계부터.
“인증을 넣으려면 어떤 구조가 좋지?”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6616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3822192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22192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Tab / Inline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4048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한 줄 보강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5074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타이핑 중 자동완성.
함수 시그니처·반복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프롬프트가 갈리는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Holiday에서 실제로 쓸 법한 문장입니다. 오른쪽처럼 말하면 수정 범위가 좁아집니다.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C2626"/>
                </a:solidFill>
                <a:latin typeface="Malgun Gothic"/>
                <a:ea typeface="Malgun Gothic"/>
              </a:rPr>
              <a:t>약한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91B1B"/>
                </a:solidFill>
                <a:latin typeface="Malgun Gothic"/>
                <a:ea typeface="Malgun Gothic"/>
              </a:rPr>
              <a:t>연차 앱 예쁘게 만들어줘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91B1B"/>
                </a:solidFill>
                <a:latin typeface="Malgun Gothic"/>
                <a:ea typeface="Malgun Gothic"/>
              </a:rPr>
              <a:t>버그 고쳐줘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19856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57016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91B1B"/>
                </a:solidFill>
                <a:latin typeface="Malgun Gothic"/>
                <a:ea typeface="Malgun Gothic"/>
              </a:rPr>
              <a:t>배포해줘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9664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06824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91B1B"/>
                </a:solidFill>
                <a:latin typeface="Malgun Gothic"/>
                <a:ea typeface="Malgun Gothic"/>
              </a:rPr>
              <a:t>모바일도 되게 해줘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19472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56632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91B1B"/>
                </a:solidFill>
                <a:latin typeface="Malgun Gothic"/>
                <a:ea typeface="Malgun Gothic"/>
              </a:rPr>
              <a:t>계산이 이상한 것 같아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18872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9669"/>
                </a:solidFill>
                <a:latin typeface="Malgun Gothic"/>
                <a:ea typeface="Malgun Gothic"/>
              </a:rPr>
              <a:t>잘 되는 요청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920240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993392"/>
            <a:ext cx="4846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65F46"/>
                </a:solidFill>
                <a:latin typeface="Malgun Gothic"/>
                <a:ea typeface="Malgun Gothic"/>
              </a:rPr>
              <a:t>관리자 명부 목록만 Stripe 카드로. 직원 화면은 건드리지 마.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70048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43200"/>
            <a:ext cx="4846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65F46"/>
                </a:solidFill>
                <a:latin typeface="Malgun Gothic"/>
                <a:ea typeface="Malgun Gothic"/>
              </a:rPr>
              <a:t>/admin/roster에서 퇴사일 저장 후 목록이 안 바뀌면 원인부터.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19856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493008"/>
            <a:ext cx="4846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65F46"/>
                </a:solidFill>
                <a:latin typeface="Malgun Gothic"/>
                <a:ea typeface="Malgun Gothic"/>
              </a:rPr>
              <a:t>space_02에 Holiday 배포. MCP 가이드 먼저 확인.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9664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242816"/>
            <a:ext cx="4846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65F46"/>
                </a:solidFill>
                <a:latin typeface="Malgun Gothic"/>
                <a:ea typeface="Malgun Gothic"/>
              </a:rPr>
              <a:t>768px 미만에서 명부를 카드로, 테이블은 PC만.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19472"/>
            <a:ext cx="5074920" cy="640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992624"/>
            <a:ext cx="4846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65F46"/>
                </a:solidFill>
                <a:latin typeface="Malgun Gothic"/>
                <a:ea typeface="Malgun Gothic"/>
              </a:rPr>
              <a:t>입사 2025-03-01, 기준일 2026-08-31 비례연차 계산 검증해줘.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요청 문장 레시피 (5요소)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52728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612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75569"/>
                </a:solidFill>
                <a:latin typeface="Malgun Gothic"/>
                <a:ea typeface="Malgun Gothic"/>
              </a:rPr>
              <a:t>무엇을 끝낼지 한 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90472"/>
            <a:ext cx="9052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예)  사원 명부에 사번을 보이게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212848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2140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75569"/>
                </a:solidFill>
                <a:latin typeface="Malgun Gothic"/>
                <a:ea typeface="Malgun Gothic"/>
              </a:rPr>
              <a:t>어디를 건드릴지 / 어디는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50592"/>
            <a:ext cx="9052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예)  roster·employees만. 연차 계산은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172968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제약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08152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75569"/>
                </a:solidFill>
                <a:latin typeface="Malgun Gothic"/>
                <a:ea typeface="Malgun Gothic"/>
              </a:rPr>
              <a:t>디자인·규칙·데이터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10712"/>
            <a:ext cx="9052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예)  기존 Stripe 톤, empNo 필드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133088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04164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75569"/>
                </a:solidFill>
                <a:latin typeface="Malgun Gothic"/>
                <a:ea typeface="Malgun Gothic"/>
              </a:rPr>
              <a:t>어떻게 확인할지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370832"/>
            <a:ext cx="9052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예)  PC 테이블·모바일 카드 둘 다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093208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66360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맥락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0176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75569"/>
                </a:solidFill>
                <a:latin typeface="Malgun Gothic"/>
                <a:ea typeface="Malgun Gothic"/>
              </a:rPr>
              <a:t>파일·에러·화면을 붙이기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330952"/>
            <a:ext cx="9052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예)  @AdminEmployeeRoster.jsx 와 스크린샷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컨텍스트를 주는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AI는 열려 있는 파일만 보는 것이 아닙니다. 의도적으로 재료를 넣어야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@파일 / @폴더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수정할 화면·API를 지정.
예: @leaveCalculations.js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프로젝트 습관을 고정.
예: 커밋은 요청할 때만, .env 금지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외부 시스템 연결.
이 프로젝트: 카페24 AI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브라우저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UI 변경 후 실제 클릭·입력으로 확인.
스크린샷만으로 끝내지 않기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566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에러 그대로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터미널 출력·스택을 붙여넣기.
‘안 돼요’보다 로그가 빠름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56616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7947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README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434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실행 방법·규칙을 문서로.
다음 대화의 나침반이 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MCP 실전: 카페24에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채팅에서 ‘배포해줘’가 동작하려면, Cursor가 호스팅 API를 부를 수 있어야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D28D9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Settings →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423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cafe24-ai-space 연결
OAuth 로그인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D28D9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공간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423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list_my_spaces
빈 공간(space_02)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D28D9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채팅으로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423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space_02에 Holiday
배포해줘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46304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D28D9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6596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환경 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2423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CURRENT_EMPLOYEE_ID
AS_OF_DATE, DB_PATH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247120" cy="19659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8B5CF6"/>
                </a:solidFill>
                <a:latin typeface="Malgun Gothic"/>
                <a:ea typeface="Malgun Gothic"/>
              </a:rPr>
              <a:t>교육에서 보여줄 설정 파일  ·  .cursor/mcp.json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  <a:ea typeface="Malgun Gothic"/>
              </a:rPr>
              <a:t>{  "mcpServers": {  "cafe24-ai-space": {  "url": "https://aih-proxy.cafe24.com/mcp"  }  }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도메인 로직은 AI에게 더 구체적으로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UI보다 ‘연차 계산’처럼 업무 규칙이 있는 코드에서 프롬프트 품질이 드러납니다.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7784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Holiday 연차 3단계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첫해 월차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입사 후 매월 1개, 최대 11. 일사일에 정산.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비례 연차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1년 도달 ~ 그다음 1/1 전. 15 × 남은일/365.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정규 연차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매 1/1 발생. 기본 15 + 근속 가산.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근속 가산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  <a:ea typeface="Malgun Gothic"/>
              </a:rPr>
              <a:t>정규 연차 최초 발생일부터. 2년마다 1일.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5440680" cy="489204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Malgun Gothic"/>
                <a:ea typeface="Malgun Gothic"/>
              </a:rPr>
              <a:t>이렇게 시키면 정확해집니다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19"/>
            <a:ext cx="502920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leaveCalculations.js 기준으로
입사일 2024-06-10,
기준일 2026-08-31일 때
· 지금 단계(월차/비례/정규)
· 발생 일수
· 가산이 붙는지
숫자로 먼저 보여주고,
코드는 그다음에 고쳐줘.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하면 좋은 것 / 하지 말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59669"/>
                </a:solidFill>
                <a:latin typeface="Malgun Gothic"/>
                <a:ea typeface="Malgun Gothic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✓   한 대화 = 한 목표 (명부 사번, 배포, 버그 하나)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5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✓   UI를 바꿨으면 브라우저에서 클릭까지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899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✓   README·변경 이력에 한 줄 남기기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3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✓   비밀값(.env, DB)은 채팅에 붙여넣지 않기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7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✓   커밋은 “커밋해줘”라고 명시했을 때만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DC2626"/>
                </a:solidFill>
                <a:latin typeface="Malgun Gothic"/>
                <a:ea typeface="Malgun Gothic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✗   ‘전체적으로 리팩터링’처럼 범위 없는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5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✗   force 배포·DB 삭제 전 확인 없이 진행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899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✗   스크린샷 한 장만 보고 완료 선언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3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✗   엑셀/DB가 열린 채로 임포트 (파일 잠금)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83479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✗   다른 사람 코드를 설명 없이 통째 덮어쓰기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Malgun Gothic"/>
                <a:ea typeface="Malgun Gothic"/>
              </a:rPr>
              <a:t>PART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따라하기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BD5E1"/>
                </a:solidFill>
                <a:latin typeface="Malgun Gothic"/>
                <a:ea typeface="Malgun Gothic"/>
              </a:rPr>
              <a:t>이 Holiday 폴더를 열고, 아래 문장을 그대로 넣어 보세요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실습 과제 3개 (난이도 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52728"/>
            <a:ext cx="2194560" cy="329184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52728"/>
            <a:ext cx="21945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초급  ·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연차 가산은 입사일부터일까, 정규 연차 시작일부터일까?
leaveCalculations.js 근거 라인과 함께 설명해줘.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코드를 읽기만. 수정 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98648"/>
            <a:ext cx="2194560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21945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중급  · 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관리자 Overview 상단에 오늘 기준 재직 인원 수를 배지로 보여줘.
다른 페이지 레이아웃은 바꾸지 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1304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한 화면, 명확한 금지 범위.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544568"/>
            <a:ext cx="2194560" cy="329184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219456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고급  ·  Agent+검증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직원 캘린더에서 반차(0.5일)와 연차(1일) 색을 구분해줘.
모바일 375px, 데스크톱 1280px에서 각각 확인해줘.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5896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  <a:ea typeface="Malgun Gothic"/>
              </a:rPr>
              <a:t>UI + 반응형 검증까지.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실습 전에 앱 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Windows에서는 아래 중 하나면 됩니다. 서버 창을 닫으면 앱도 종료됩니다.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214884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5CF6"/>
                </a:solidFill>
                <a:latin typeface="Malgun Gothic"/>
                <a:ea typeface="Malgun Gothic"/>
              </a:rPr>
              <a:t>권장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npm run restart
또는  start-holiday.bat  더블클릭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본인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http://localhost:3001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8862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같은 Wi-Fi 휴대폰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4348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관리자 사이드바 또는 /health 의 shareUrl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5760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88620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D28D9"/>
                </a:solidFill>
                <a:latin typeface="Malgun Gothic"/>
                <a:ea typeface="Malgun Gothic"/>
              </a:rPr>
              <a:t>포트 충돌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4348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  <a:ea typeface="Malgun Gothic"/>
              </a:rPr>
              <a:t>그대로 npm run restart 다시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교육 후 체크리스트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1.  Cursor를 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Holiday 폴더를 워크스페이스로 연 뒤 Agent 채팅을 쓸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5156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2.  맥락을 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@파일, README, 에러 로그를 붙여 요청한다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3.  범위를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고칠 화면과 건드리지 말 파일을 한 줄로 적는다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9748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4.  실행한다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npm run restart 후 브라우저에서 직접 확인한다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40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5.  MCP를 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배포는 채팅 한 줄이 아니라, 연결된 도구가 있어야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43400"/>
            <a:ext cx="5623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6.  안전을 지킨다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5074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  <a:ea typeface="Malgun Gothic"/>
              </a:rPr>
              <a:t>.env·DB 삭제·강제 배포는 확인 후에만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Malgun Gothic"/>
                <a:ea typeface="Malgun Gothic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Malgun Gothic"/>
                <a:ea typeface="Malgun Gothic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Cursor는 코드를 대신 짜 주는 마법이 아니라,
프로젝트 맥락을 읽고 작업을 끝까지 수행하는 동료입니다.
Holiday처럼 목표·규칙·검증을 나눠 시키면
사내 앱도 대화로 만들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질문 있으신가요?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Malgun Gothic"/>
                <a:ea typeface="Malgun Gothic"/>
              </a:rPr>
              <a:t>다음 실습: 오늘 과제 중 하나를 Agent에게 실제로 시켜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5CF6"/>
                </a:solidFill>
                <a:latin typeface="Malgun Gothic"/>
                <a:ea typeface="Malgun Gothic"/>
              </a:rPr>
              <a:t>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2E8F0"/>
                </a:solidFill>
                <a:latin typeface="Malgun Gothic"/>
                <a:ea typeface="Malgun Gothic"/>
              </a:rPr>
              <a:t>http://localhost:3001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1148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5CF6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805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2E8F0"/>
                </a:solidFill>
                <a:latin typeface="Malgun Gothic"/>
                <a:ea typeface="Malgun Gothic"/>
              </a:rPr>
              <a:t>README.md  ·  docs/AISPACE_DEPLOY.md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148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5CF6"/>
                </a:solidFill>
                <a:latin typeface="Malgun Gothic"/>
                <a:ea typeface="Malgun Gothic"/>
              </a:rPr>
              <a:t>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4805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2E8F0"/>
                </a:solidFill>
                <a:latin typeface="Malgun Gothic"/>
                <a:ea typeface="Malgun Gothic"/>
              </a:rPr>
              <a:t>src/utils/leaveCalculations.js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Cursor AI 활용 교육  ·  Holiday 연차 관리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5B4C8"/>
                </a:solidFill>
                <a:latin typeface="Malgun Gothic"/>
                <a:ea typeface="Malgun Gothic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